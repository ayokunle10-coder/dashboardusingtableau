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300001">
            <a:off x="0" y="0"/>
            <a:ext cx="1026795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480000">
            <a:off x="6191250" y="0"/>
            <a:ext cx="6000750" cy="6858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7825" y="3162300"/>
            <a:ext cx="1885950" cy="895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5475" y="3448050"/>
            <a:ext cx="333375" cy="3238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409950" y="1657350"/>
            <a:ext cx="53721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</a:t>
            </a:r>
            <a:endParaRPr lang="en-US" sz="9900" dirty="0"/>
          </a:p>
        </p:txBody>
      </p:sp>
      <p:sp>
        <p:nvSpPr>
          <p:cNvPr id="11" name="Text 1"/>
          <p:cNvSpPr/>
          <p:nvPr/>
        </p:nvSpPr>
        <p:spPr>
          <a:xfrm>
            <a:off x="3200400" y="3009900"/>
            <a:ext cx="57912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900" dirty="0"/>
          </a:p>
        </p:txBody>
      </p:sp>
      <p:sp>
        <p:nvSpPr>
          <p:cNvPr id="12" name="Text 2"/>
          <p:cNvSpPr/>
          <p:nvPr/>
        </p:nvSpPr>
        <p:spPr>
          <a:xfrm>
            <a:off x="9947821" y="3343275"/>
            <a:ext cx="942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Dashboard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3836194" y="4819650"/>
            <a:ext cx="45196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Data Perspective</a:t>
            </a:r>
            <a:endParaRPr lang="en-US" sz="25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3025" y="6248400"/>
            <a:ext cx="1238250" cy="381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457200" y="613410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COVID-19 Insights Tableau Dashboard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8801100" y="457200"/>
            <a:ext cx="293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Theme: Black Industry Report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8801100" y="762000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Language: English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352675"/>
            <a:ext cx="1543050" cy="438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581525"/>
            <a:ext cx="9334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75" y="1028700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675" y="1676400"/>
            <a:ext cx="400050" cy="400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2324100"/>
            <a:ext cx="400050" cy="400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9675" y="2971800"/>
            <a:ext cx="400050" cy="400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9675" y="3619500"/>
            <a:ext cx="400050" cy="400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9675" y="4267200"/>
            <a:ext cx="400050" cy="400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9675" y="4914900"/>
            <a:ext cx="400050" cy="400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9675" y="5562600"/>
            <a:ext cx="400050" cy="4000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066800" y="245745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5" name="Text 1"/>
          <p:cNvSpPr/>
          <p:nvPr/>
        </p:nvSpPr>
        <p:spPr>
          <a:xfrm>
            <a:off x="762000" y="3009900"/>
            <a:ext cx="381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200" dirty="0"/>
          </a:p>
        </p:txBody>
      </p:sp>
      <p:sp>
        <p:nvSpPr>
          <p:cNvPr id="16" name="Text 2"/>
          <p:cNvSpPr/>
          <p:nvPr/>
        </p:nvSpPr>
        <p:spPr>
          <a:xfrm>
            <a:off x="5124450" y="11144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3"/>
          <p:cNvSpPr/>
          <p:nvPr/>
        </p:nvSpPr>
        <p:spPr>
          <a:xfrm>
            <a:off x="5562600" y="1121569"/>
            <a:ext cx="1885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Overview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5124450" y="17621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5"/>
          <p:cNvSpPr/>
          <p:nvPr/>
        </p:nvSpPr>
        <p:spPr>
          <a:xfrm>
            <a:off x="5562600" y="1769269"/>
            <a:ext cx="2409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Metrics at a Glance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5124450" y="24098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7"/>
          <p:cNvSpPr/>
          <p:nvPr/>
        </p:nvSpPr>
        <p:spPr>
          <a:xfrm>
            <a:off x="5562600" y="2416969"/>
            <a:ext cx="2409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Geographic Distribution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5124450" y="30575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9"/>
          <p:cNvSpPr/>
          <p:nvPr/>
        </p:nvSpPr>
        <p:spPr>
          <a:xfrm>
            <a:off x="5562600" y="3064669"/>
            <a:ext cx="1990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 Rate Analysis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5124450" y="37052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11"/>
          <p:cNvSpPr/>
          <p:nvPr/>
        </p:nvSpPr>
        <p:spPr>
          <a:xfrm>
            <a:off x="5562600" y="3712369"/>
            <a:ext cx="28289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Cases Over Time (2020–2024)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5124450" y="43529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13"/>
          <p:cNvSpPr/>
          <p:nvPr/>
        </p:nvSpPr>
        <p:spPr>
          <a:xfrm>
            <a:off x="5562600" y="4360069"/>
            <a:ext cx="2514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Vaccination by Continent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5124450" y="50006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15"/>
          <p:cNvSpPr/>
          <p:nvPr/>
        </p:nvSpPr>
        <p:spPr>
          <a:xfrm>
            <a:off x="5562600" y="5007769"/>
            <a:ext cx="27241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 &amp; Limitations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5124450" y="5648325"/>
            <a:ext cx="19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5562600" y="5655469"/>
            <a:ext cx="32480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 &amp; Recommendations</a:t>
            </a:r>
            <a:endParaRPr lang="en-US" sz="1200" dirty="0"/>
          </a:p>
        </p:txBody>
      </p:sp>
      <p:sp>
        <p:nvSpPr>
          <p:cNvPr id="32" name="Text 1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7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33825"/>
            <a:ext cx="95250" cy="104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505325"/>
            <a:ext cx="95250" cy="104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848225"/>
            <a:ext cx="95250" cy="1047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419725"/>
            <a:ext cx="95250" cy="1047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725" y="1419225"/>
            <a:ext cx="7143750" cy="515302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2000" y="7620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3400" dirty="0"/>
          </a:p>
        </p:txBody>
      </p:sp>
      <p:sp>
        <p:nvSpPr>
          <p:cNvPr id="11" name="Text 1"/>
          <p:cNvSpPr/>
          <p:nvPr/>
        </p:nvSpPr>
        <p:spPr>
          <a:xfrm>
            <a:off x="762000" y="2188369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</a:t>
            </a:r>
            <a:endParaRPr lang="en-US" sz="1400" dirty="0"/>
          </a:p>
        </p:txBody>
      </p:sp>
      <p:sp>
        <p:nvSpPr>
          <p:cNvPr id="12" name="Text 2"/>
          <p:cNvSpPr/>
          <p:nvPr/>
        </p:nvSpPr>
        <p:spPr>
          <a:xfrm>
            <a:off x="762000" y="2569369"/>
            <a:ext cx="3810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global overview of COVID-19 statistics across continents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762000" y="3431381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Included views</a:t>
            </a:r>
            <a:endParaRPr lang="en-US" sz="1400" dirty="0"/>
          </a:p>
        </p:txBody>
      </p:sp>
      <p:sp>
        <p:nvSpPr>
          <p:cNvPr id="14" name="Text 4"/>
          <p:cNvSpPr/>
          <p:nvPr/>
        </p:nvSpPr>
        <p:spPr>
          <a:xfrm>
            <a:off x="952500" y="3850481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Geographic map with bubble markers by continent</a:t>
            </a:r>
            <a:endParaRPr lang="en-US" sz="1100" dirty="0"/>
          </a:p>
        </p:txBody>
      </p:sp>
      <p:sp>
        <p:nvSpPr>
          <p:cNvPr id="15" name="Text 5"/>
          <p:cNvSpPr/>
          <p:nvPr/>
        </p:nvSpPr>
        <p:spPr>
          <a:xfrm>
            <a:off x="952500" y="4421981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 rate by continent (bar chart)</a:t>
            </a:r>
            <a:endParaRPr lang="en-US" sz="1100" dirty="0"/>
          </a:p>
        </p:txBody>
      </p:sp>
      <p:sp>
        <p:nvSpPr>
          <p:cNvPr id="16" name="Text 6"/>
          <p:cNvSpPr/>
          <p:nvPr/>
        </p:nvSpPr>
        <p:spPr>
          <a:xfrm>
            <a:off x="952500" y="4764881"/>
            <a:ext cx="361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cases by year 2020–2024 (area chart)</a:t>
            </a:r>
            <a:endParaRPr lang="en-US" sz="1100" dirty="0"/>
          </a:p>
        </p:txBody>
      </p:sp>
      <p:sp>
        <p:nvSpPr>
          <p:cNvPr id="17" name="Text 7"/>
          <p:cNvSpPr/>
          <p:nvPr/>
        </p:nvSpPr>
        <p:spPr>
          <a:xfrm>
            <a:off x="952500" y="5336381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Vaccination by continent (bar chart)</a:t>
            </a:r>
            <a:endParaRPr lang="en-US" sz="11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5400" y="1866900"/>
            <a:ext cx="6248400" cy="401955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1866900"/>
            <a:ext cx="4629150" cy="1866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866900"/>
            <a:ext cx="4629150" cy="1866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4019550"/>
            <a:ext cx="4629150" cy="1866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4019550"/>
            <a:ext cx="4629150" cy="18669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62000" y="762000"/>
            <a:ext cx="528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at a Glance</a:t>
            </a:r>
            <a:endParaRPr lang="en-US" sz="3400" dirty="0"/>
          </a:p>
        </p:txBody>
      </p:sp>
      <p:sp>
        <p:nvSpPr>
          <p:cNvPr id="10" name="Text 1"/>
          <p:cNvSpPr/>
          <p:nvPr/>
        </p:nvSpPr>
        <p:spPr>
          <a:xfrm>
            <a:off x="2764036" y="2266950"/>
            <a:ext cx="1748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Vaccination</a:t>
            </a:r>
            <a:endParaRPr lang="en-US" sz="1100" dirty="0"/>
          </a:p>
        </p:txBody>
      </p:sp>
      <p:sp>
        <p:nvSpPr>
          <p:cNvPr id="11" name="Text 2"/>
          <p:cNvSpPr/>
          <p:nvPr/>
        </p:nvSpPr>
        <p:spPr>
          <a:xfrm>
            <a:off x="2205038" y="2647950"/>
            <a:ext cx="2867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47,979B</a:t>
            </a:r>
            <a:endParaRPr lang="en-US" sz="5100" dirty="0"/>
          </a:p>
        </p:txBody>
      </p:sp>
      <p:sp>
        <p:nvSpPr>
          <p:cNvPr id="12" name="Text 3"/>
          <p:cNvSpPr/>
          <p:nvPr/>
        </p:nvSpPr>
        <p:spPr>
          <a:xfrm>
            <a:off x="7987605" y="2266950"/>
            <a:ext cx="1131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Cases</a:t>
            </a:r>
            <a:endParaRPr lang="en-US" sz="1100" dirty="0"/>
          </a:p>
        </p:txBody>
      </p:sp>
      <p:sp>
        <p:nvSpPr>
          <p:cNvPr id="13" name="Text 4"/>
          <p:cNvSpPr/>
          <p:nvPr/>
        </p:nvSpPr>
        <p:spPr>
          <a:xfrm>
            <a:off x="6915150" y="264795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3,033.1B</a:t>
            </a:r>
            <a:endParaRPr lang="en-US" sz="5100" dirty="0"/>
          </a:p>
        </p:txBody>
      </p:sp>
      <p:sp>
        <p:nvSpPr>
          <p:cNvPr id="14" name="Text 5"/>
          <p:cNvSpPr/>
          <p:nvPr/>
        </p:nvSpPr>
        <p:spPr>
          <a:xfrm>
            <a:off x="3021211" y="4419600"/>
            <a:ext cx="1234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Deaths</a:t>
            </a:r>
            <a:endParaRPr lang="en-US" sz="1100" dirty="0"/>
          </a:p>
        </p:txBody>
      </p:sp>
      <p:sp>
        <p:nvSpPr>
          <p:cNvPr id="15" name="Text 6"/>
          <p:cNvSpPr/>
          <p:nvPr/>
        </p:nvSpPr>
        <p:spPr>
          <a:xfrm>
            <a:off x="2614613" y="4800600"/>
            <a:ext cx="2047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33.5B</a:t>
            </a:r>
            <a:endParaRPr lang="en-US" sz="5100" dirty="0"/>
          </a:p>
        </p:txBody>
      </p:sp>
      <p:sp>
        <p:nvSpPr>
          <p:cNvPr id="16" name="Text 7"/>
          <p:cNvSpPr/>
          <p:nvPr/>
        </p:nvSpPr>
        <p:spPr>
          <a:xfrm>
            <a:off x="7730430" y="4419600"/>
            <a:ext cx="1646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Population</a:t>
            </a:r>
            <a:endParaRPr lang="en-US" sz="1100" dirty="0"/>
          </a:p>
        </p:txBody>
      </p:sp>
      <p:sp>
        <p:nvSpPr>
          <p:cNvPr id="17" name="Text 8"/>
          <p:cNvSpPr/>
          <p:nvPr/>
        </p:nvSpPr>
        <p:spPr>
          <a:xfrm>
            <a:off x="6710363" y="4800600"/>
            <a:ext cx="3686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65,288.6B</a:t>
            </a:r>
            <a:endParaRPr lang="en-US" sz="5100" dirty="0"/>
          </a:p>
        </p:txBody>
      </p:sp>
      <p:sp>
        <p:nvSpPr>
          <p:cNvPr id="18" name="Text 9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647825"/>
            <a:ext cx="7181850" cy="4305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1242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328612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2952750"/>
            <a:ext cx="323850" cy="3333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4286250"/>
            <a:ext cx="285750" cy="295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4619625"/>
            <a:ext cx="171450" cy="1809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7225" y="3952875"/>
            <a:ext cx="247650" cy="2571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5" y="1790700"/>
            <a:ext cx="3067050" cy="5905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2475" y="2476500"/>
            <a:ext cx="3067050" cy="5905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2475" y="3162300"/>
            <a:ext cx="3067050" cy="5905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2475" y="3848100"/>
            <a:ext cx="3067050" cy="5905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2475" y="4533900"/>
            <a:ext cx="3067050" cy="5905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72475" y="5219700"/>
            <a:ext cx="3067050" cy="5905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762000"/>
            <a:ext cx="5400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Distribution</a:t>
            </a:r>
            <a:endParaRPr lang="en-US" sz="3400" dirty="0"/>
          </a:p>
        </p:txBody>
      </p:sp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05125" y="2362200"/>
            <a:ext cx="2876550" cy="2876550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1076325" y="5514975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distribution visualized via bubble markers</a:t>
            </a:r>
            <a:endParaRPr lang="en-US" sz="900" dirty="0"/>
          </a:p>
        </p:txBody>
      </p:sp>
      <p:sp>
        <p:nvSpPr>
          <p:cNvPr id="21" name="Text 2"/>
          <p:cNvSpPr/>
          <p:nvPr/>
        </p:nvSpPr>
        <p:spPr>
          <a:xfrm>
            <a:off x="8648700" y="19526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Asia</a:t>
            </a:r>
            <a:endParaRPr lang="en-US" sz="1400" dirty="0"/>
          </a:p>
        </p:txBody>
      </p:sp>
      <p:sp>
        <p:nvSpPr>
          <p:cNvPr id="22" name="Text 3"/>
          <p:cNvSpPr/>
          <p:nvPr/>
        </p:nvSpPr>
        <p:spPr>
          <a:xfrm>
            <a:off x="8648700" y="26384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America</a:t>
            </a:r>
            <a:endParaRPr lang="en-US" sz="1400" dirty="0"/>
          </a:p>
        </p:txBody>
      </p:sp>
      <p:sp>
        <p:nvSpPr>
          <p:cNvPr id="23" name="Text 4"/>
          <p:cNvSpPr/>
          <p:nvPr/>
        </p:nvSpPr>
        <p:spPr>
          <a:xfrm>
            <a:off x="8648700" y="33242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Europe</a:t>
            </a:r>
            <a:endParaRPr lang="en-US" sz="1400" dirty="0"/>
          </a:p>
        </p:txBody>
      </p:sp>
      <p:sp>
        <p:nvSpPr>
          <p:cNvPr id="24" name="Text 5"/>
          <p:cNvSpPr/>
          <p:nvPr/>
        </p:nvSpPr>
        <p:spPr>
          <a:xfrm>
            <a:off x="8648700" y="40100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 America</a:t>
            </a:r>
            <a:endParaRPr lang="en-US" sz="1400" dirty="0"/>
          </a:p>
        </p:txBody>
      </p:sp>
      <p:sp>
        <p:nvSpPr>
          <p:cNvPr id="25" name="Text 6"/>
          <p:cNvSpPr/>
          <p:nvPr/>
        </p:nvSpPr>
        <p:spPr>
          <a:xfrm>
            <a:off x="8648700" y="46958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Oceania</a:t>
            </a:r>
            <a:endParaRPr lang="en-US" sz="1400" dirty="0"/>
          </a:p>
        </p:txBody>
      </p:sp>
      <p:sp>
        <p:nvSpPr>
          <p:cNvPr id="26" name="Text 7"/>
          <p:cNvSpPr/>
          <p:nvPr/>
        </p:nvSpPr>
        <p:spPr>
          <a:xfrm>
            <a:off x="8648700" y="53816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Africa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2019300"/>
            <a:ext cx="4248150" cy="18859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675" y="3790950"/>
            <a:ext cx="4248150" cy="18859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00" y="762000"/>
            <a:ext cx="5505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 Rate by Continent</a:t>
            </a:r>
            <a:endParaRPr lang="en-US" sz="34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00225"/>
            <a:ext cx="6210300" cy="40005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7696200" y="2371725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Insight</a:t>
            </a:r>
            <a:endParaRPr lang="en-US" sz="1400" dirty="0"/>
          </a:p>
        </p:txBody>
      </p:sp>
      <p:sp>
        <p:nvSpPr>
          <p:cNvPr id="10" name="Text 2"/>
          <p:cNvSpPr/>
          <p:nvPr/>
        </p:nvSpPr>
        <p:spPr>
          <a:xfrm>
            <a:off x="7696200" y="2714625"/>
            <a:ext cx="3505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"Null" category represents the highest recorded death rate at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25,453.06M</a:t>
            </a:r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indicating significant uncategorized data.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7696200" y="4143375"/>
            <a:ext cx="350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Continental Ranking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7696200" y="4486275"/>
            <a:ext cx="3505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identified continents, Europe and North America show higher death rates compared to Oceania and Africa.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962025"/>
            <a:ext cx="781050" cy="57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762000"/>
            <a:ext cx="436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Cases by Year</a:t>
            </a:r>
            <a:endParaRPr lang="en-US" sz="3400" dirty="0"/>
          </a:p>
        </p:txBody>
      </p:sp>
      <p:sp>
        <p:nvSpPr>
          <p:cNvPr id="6" name="Text 1"/>
          <p:cNvSpPr/>
          <p:nvPr/>
        </p:nvSpPr>
        <p:spPr>
          <a:xfrm>
            <a:off x="762000" y="1371600"/>
            <a:ext cx="1066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steady accumulation, 2020–2024</a:t>
            </a:r>
            <a:endParaRPr lang="en-US" sz="14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85975"/>
            <a:ext cx="10668000" cy="40005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50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2038350"/>
            <a:ext cx="3867150" cy="17240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3562350"/>
            <a:ext cx="3867150" cy="15144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975" y="4991100"/>
            <a:ext cx="363855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0975" y="5381625"/>
            <a:ext cx="866775" cy="666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900" y="5381625"/>
            <a:ext cx="866775" cy="666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8825" y="5381625"/>
            <a:ext cx="866775" cy="666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0" y="5381625"/>
            <a:ext cx="866775" cy="6667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62000" y="762000"/>
            <a:ext cx="6086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Continent Vaccinated</a:t>
            </a:r>
            <a:endParaRPr lang="en-US" sz="3400" dirty="0"/>
          </a:p>
        </p:txBody>
      </p:sp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704975"/>
            <a:ext cx="6591300" cy="4191000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9575" y="2362200"/>
            <a:ext cx="628650" cy="25717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8115300" y="2396728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highlight>
                  <a:srgbClr val="C1E3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 1</a:t>
            </a:r>
            <a:endParaRPr lang="en-US" sz="900" dirty="0"/>
          </a:p>
        </p:txBody>
      </p:sp>
      <p:sp>
        <p:nvSpPr>
          <p:cNvPr id="16" name="Text 2"/>
          <p:cNvSpPr/>
          <p:nvPr/>
        </p:nvSpPr>
        <p:spPr>
          <a:xfrm>
            <a:off x="8763000" y="2358628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Category</a:t>
            </a:r>
            <a:endParaRPr lang="en-US" sz="1200" dirty="0"/>
          </a:p>
        </p:txBody>
      </p:sp>
      <p:sp>
        <p:nvSpPr>
          <p:cNvPr id="17" name="Text 3"/>
          <p:cNvSpPr/>
          <p:nvPr/>
        </p:nvSpPr>
        <p:spPr>
          <a:xfrm>
            <a:off x="8039100" y="2701528"/>
            <a:ext cx="32004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death rate metrics, uncategorized data remains the largest segment in global vaccination reporting.</a:t>
            </a:r>
            <a:endParaRPr lang="en-US" sz="900" dirty="0"/>
          </a:p>
        </p:txBody>
      </p:sp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9575" y="3876675"/>
            <a:ext cx="647700" cy="27622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8115300" y="3913584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</a:t>
            </a:r>
            <a:endParaRPr lang="en-US" sz="900" dirty="0"/>
          </a:p>
        </p:txBody>
      </p:sp>
      <p:sp>
        <p:nvSpPr>
          <p:cNvPr id="20" name="Text 5"/>
          <p:cNvSpPr/>
          <p:nvPr/>
        </p:nvSpPr>
        <p:spPr>
          <a:xfrm>
            <a:off x="8782050" y="3885009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Asia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8039100" y="4227909"/>
            <a:ext cx="32004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leads identified continents in total vaccination counts, followed by South America and Europe.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7810500" y="5166122"/>
            <a:ext cx="3619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Distribution Trend</a:t>
            </a:r>
            <a:endParaRPr lang="en-US" sz="800" dirty="0"/>
          </a:p>
        </p:txBody>
      </p:sp>
      <p:sp>
        <p:nvSpPr>
          <p:cNvPr id="23" name="Text 8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225" y="962025"/>
            <a:ext cx="781050" cy="57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438275"/>
            <a:ext cx="10687050" cy="857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1666875"/>
            <a:ext cx="400050" cy="400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647950"/>
            <a:ext cx="3171825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076575"/>
            <a:ext cx="323850" cy="3238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733800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400550"/>
            <a:ext cx="323850" cy="3238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2975" y="2647950"/>
            <a:ext cx="2876550" cy="38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6975" y="3076575"/>
            <a:ext cx="323850" cy="3238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6975" y="3733800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6975" y="4400550"/>
            <a:ext cx="323850" cy="3238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762000"/>
            <a:ext cx="882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and Recommendations</a:t>
            </a:r>
            <a:endParaRPr lang="en-US" sz="3400" dirty="0"/>
          </a:p>
        </p:txBody>
      </p:sp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7275" y="1743075"/>
            <a:ext cx="247650" cy="24765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1524000" y="1638300"/>
            <a:ext cx="971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 appear scaled/aggregated (e.g., population shown as 65,288.6B) and may be from a practice/template dashboard; may not reflect real-world statistics</a:t>
            </a:r>
            <a:endParaRPr lang="en-US" sz="1100" dirty="0"/>
          </a:p>
        </p:txBody>
      </p:sp>
      <p:sp>
        <p:nvSpPr>
          <p:cNvPr id="18" name="Text 2"/>
          <p:cNvSpPr/>
          <p:nvPr/>
        </p:nvSpPr>
        <p:spPr>
          <a:xfrm>
            <a:off x="762000" y="2514600"/>
            <a:ext cx="18822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19" name="Text 3"/>
          <p:cNvSpPr/>
          <p:nvPr/>
        </p:nvSpPr>
        <p:spPr>
          <a:xfrm>
            <a:off x="838200" y="3143250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4"/>
          <p:cNvSpPr/>
          <p:nvPr/>
        </p:nvSpPr>
        <p:spPr>
          <a:xfrm>
            <a:off x="1219200" y="3048000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provides global overview across continents via map + trend + ranked bars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838200" y="3805237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6"/>
          <p:cNvSpPr/>
          <p:nvPr/>
        </p:nvSpPr>
        <p:spPr>
          <a:xfrm>
            <a:off x="1219200" y="3709988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“Null” appears as the highest category in death rate and vaccination charts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838200" y="4467225"/>
            <a:ext cx="15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8"/>
          <p:cNvSpPr/>
          <p:nvPr/>
        </p:nvSpPr>
        <p:spPr>
          <a:xfrm>
            <a:off x="1219200" y="4371975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cases trend shows steady accumulation from 2020 to 2024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286500" y="25146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E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700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3175" y="3152775"/>
            <a:ext cx="171450" cy="171450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6743700" y="3048000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category mapping behind “Null” and clarify continent classification</a:t>
            </a:r>
            <a:endParaRPr lang="en-US" sz="1200" dirty="0"/>
          </a:p>
        </p:txBody>
      </p:sp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175" y="3810000"/>
            <a:ext cx="171450" cy="180975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6743700" y="3709988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units/scaling for headline metrics before executive decision-making</a:t>
            </a:r>
            <a:endParaRPr lang="en-US" sz="1200" dirty="0"/>
          </a:p>
        </p:txBody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175" y="4476750"/>
            <a:ext cx="171450" cy="17145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6743700" y="4371975"/>
            <a:ext cx="4686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consistent definitions across cases, deaths, vaccinations, and population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762000" y="638175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875" y="3114675"/>
            <a:ext cx="1238250" cy="57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5" y="5133975"/>
            <a:ext cx="6267450" cy="7429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300413" y="1752600"/>
            <a:ext cx="55911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500" dirty="0"/>
          </a:p>
        </p:txBody>
      </p:sp>
      <p:sp>
        <p:nvSpPr>
          <p:cNvPr id="8" name="Text 1"/>
          <p:cNvSpPr/>
          <p:nvPr/>
        </p:nvSpPr>
        <p:spPr>
          <a:xfrm>
            <a:off x="3300413" y="3467100"/>
            <a:ext cx="5591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6B6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400" dirty="0"/>
          </a:p>
        </p:txBody>
      </p:sp>
      <p:sp>
        <p:nvSpPr>
          <p:cNvPr id="9" name="Text 2"/>
          <p:cNvSpPr/>
          <p:nvPr/>
        </p:nvSpPr>
        <p:spPr>
          <a:xfrm>
            <a:off x="3581400" y="53721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COVID-19 INSIGHTS: A Global Data Perspective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2026-05-14T20:00:58Z</dcterms:created>
  <dcterms:modified xsi:type="dcterms:W3CDTF">2026-05-14T20:00:58Z</dcterms:modified>
</cp:coreProperties>
</file>